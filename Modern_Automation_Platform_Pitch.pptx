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Testing Market ($B)</c:v>
                </c:pt>
              </c:strCache>
            </c:strRef>
          </c:tx>
          <c:spPr>
            <a:ln w="38100">
              <a:solidFill>
                <a:srgbClr val="00B4D8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  <c:pt idx="7">
                  <c:v>2031</c:v>
                </c:pt>
                <c:pt idx="8">
                  <c:v>2032</c:v>
                </c:pt>
                <c:pt idx="9">
                  <c:v>2033</c:v>
                </c:pt>
                <c:pt idx="10">
                  <c:v>2034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0.72</c:v>
                </c:pt>
                <c:pt idx="1">
                  <c:v>0.85</c:v>
                </c:pt>
                <c:pt idx="2">
                  <c:v>1.04</c:v>
                </c:pt>
                <c:pt idx="3">
                  <c:v>1.27</c:v>
                </c:pt>
                <c:pt idx="4">
                  <c:v>1.55</c:v>
                </c:pt>
                <c:pt idx="5">
                  <c:v>1.9</c:v>
                </c:pt>
                <c:pt idx="6">
                  <c:v>2.32</c:v>
                </c:pt>
                <c:pt idx="7">
                  <c:v>2.84</c:v>
                </c:pt>
                <c:pt idx="8">
                  <c:v>3.47</c:v>
                </c:pt>
                <c:pt idx="9">
                  <c:v>4.0</c:v>
                </c:pt>
                <c:pt idx="10">
                  <c:v>4.64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94A3B8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94A3B8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 Adoption %</c:v>
                </c:pt>
              </c:strCache>
            </c:strRef>
          </c:tx>
          <c:spPr>
            <a:solidFill>
              <a:srgbClr val="00B4D8"/>
            </a:solidFill>
          </c:spPr>
          <c:cat>
            <c:strRef>
              <c:f>Sheet1!$A$2:$A$7</c:f>
              <c:strCache>
                <c:ptCount val="6"/>
                <c:pt idx="0">
                  <c:v>Playwright</c:v>
                </c:pt>
                <c:pt idx="1">
                  <c:v>Selenium</c:v>
                </c:pt>
                <c:pt idx="2">
                  <c:v>Cypress</c:v>
                </c:pt>
                <c:pt idx="3">
                  <c:v>Appium</c:v>
                </c:pt>
                <c:pt idx="4">
                  <c:v>Katalon</c:v>
                </c:pt>
                <c:pt idx="5">
                  <c:v>WebDriverIO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45.1</c:v>
                </c:pt>
                <c:pt idx="1">
                  <c:v>22.1</c:v>
                </c:pt>
                <c:pt idx="2">
                  <c:v>14.4</c:v>
                </c:pt>
                <c:pt idx="3">
                  <c:v>4.6</c:v>
                </c:pt>
                <c:pt idx="4">
                  <c:v>1.6</c:v>
                </c:pt>
                <c:pt idx="5">
                  <c:v>0.5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Usage</c:v>
                </c:pt>
              </c:strCache>
            </c:strRef>
          </c:tx>
          <c:dPt>
            <c:idx val="0"/>
            <c:spPr>
              <a:solidFill>
                <a:srgbClr val="00B4D8"/>
              </a:solidFill>
            </c:spPr>
          </c:dPt>
          <c:dPt>
            <c:idx val="1"/>
            <c:spPr>
              <a:solidFill>
                <a:srgbClr val="10B981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8B5CF6"/>
              </a:solidFill>
            </c:spPr>
          </c:dPt>
          <c:dPt>
            <c:idx val="4"/>
            <c:spPr>
              <a:solidFill>
                <a:srgbClr val="EF4444"/>
              </a:solidFill>
            </c:spPr>
          </c:dPt>
          <c:dPt>
            <c:idx val="5"/>
            <c:spPr>
              <a:solidFill>
                <a:srgbClr val="94A3B8"/>
              </a:solidFill>
            </c:spPr>
          </c:dPt>
          <c:cat>
            <c:strRef>
              <c:f>Sheet1!$A$2:$A$7</c:f>
              <c:strCache>
                <c:ptCount val="6"/>
                <c:pt idx="0">
                  <c:v>JavaScript/TS</c:v>
                </c:pt>
                <c:pt idx="1">
                  <c:v>Python</c:v>
                </c:pt>
                <c:pt idx="2">
                  <c:v>Java</c:v>
                </c:pt>
                <c:pt idx="3">
                  <c:v>C#</c:v>
                </c:pt>
                <c:pt idx="4">
                  <c:v>Ruby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25</c:v>
                </c:pt>
                <c:pt idx="2">
                  <c:v>18</c:v>
                </c:pt>
                <c:pt idx="3">
                  <c:v>10</c:v>
                </c:pt>
                <c:pt idx="4">
                  <c:v>3</c:v>
                </c:pt>
                <c:pt idx="5">
                  <c:v>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CBD5E1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Playwright</c:v>
                </c:pt>
              </c:strCache>
            </c:strRef>
          </c:tx>
          <c:spPr>
            <a:ln w="38100">
              <a:solidFill>
                <a:srgbClr val="00B4D8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15</c:v>
                </c:pt>
                <c:pt idx="2">
                  <c:v>25</c:v>
                </c:pt>
                <c:pt idx="3">
                  <c:v>35</c:v>
                </c:pt>
                <c:pt idx="4">
                  <c:v>41</c:v>
                </c:pt>
                <c:pt idx="5">
                  <c:v>45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Selenium</c:v>
                </c:pt>
              </c:strCache>
            </c:strRef>
          </c:tx>
          <c:spPr>
            <a:ln w="38100">
              <a:solidFill>
                <a:srgbClr val="F59E0B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55</c:v>
                </c:pt>
                <c:pt idx="1">
                  <c:v>48</c:v>
                </c:pt>
                <c:pt idx="2">
                  <c:v>40</c:v>
                </c:pt>
                <c:pt idx="3">
                  <c:v>32</c:v>
                </c:pt>
                <c:pt idx="4">
                  <c:v>26</c:v>
                </c:pt>
                <c:pt idx="5">
                  <c:v>22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Cypress</c:v>
                </c:pt>
              </c:strCache>
            </c:strRef>
          </c:tx>
          <c:spPr>
            <a:ln w="38100">
              <a:solidFill>
                <a:srgbClr val="EF4444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18</c:v>
                </c:pt>
                <c:pt idx="1">
                  <c:v>20</c:v>
                </c:pt>
                <c:pt idx="2">
                  <c:v>18</c:v>
                </c:pt>
                <c:pt idx="3">
                  <c:v>16</c:v>
                </c:pt>
                <c:pt idx="4">
                  <c:v>15</c:v>
                </c:pt>
                <c:pt idx="5">
                  <c:v>14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CBD5E1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2A335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4A3B8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CBD5E1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MODERN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B4D8"/>
                </a:solidFill>
                <a:latin typeface="Calibri"/>
              </a:defRPr>
            </a:pPr>
            <a:r>
              <a:t>AI-Driven Software Quality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Predicting defects. Self-healing tests. Intelligent automation.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BD5E1"/>
                </a:solidFill>
                <a:latin typeface="Calibri"/>
              </a:defRPr>
            </a:pPr>
            <a:r>
              <a:t>Vijay Prasad Javvadi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60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Investor Presentation  |  April 2026</a:t>
            </a:r>
          </a:p>
        </p:txBody>
      </p:sp>
      <p:sp>
        <p:nvSpPr>
          <p:cNvPr id="8" name="Oval 7"/>
          <p:cNvSpPr/>
          <p:nvPr/>
        </p:nvSpPr>
        <p:spPr>
          <a:xfrm>
            <a:off x="8046720" y="384048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56032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5603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28090"/>
                </a:solidFill>
                <a:latin typeface="Calibri"/>
              </a:defRPr>
            </a:pPr>
            <a:r>
              <a:t>$60B+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Wasted annually on</a:t>
            </a:r>
            <a:br/>
            <a:r>
              <a:t>software defects found</a:t>
            </a:r>
            <a:br/>
            <a:r>
              <a:t>too late in the cycle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371600"/>
            <a:ext cx="256032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5603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828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28090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7432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Of test maintenance time</a:t>
            </a:r>
            <a:br/>
            <a:r>
              <a:t>spent fixing broken</a:t>
            </a:r>
            <a:br/>
            <a:r>
              <a:t>locators and flaky tests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256032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5603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28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28090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432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Of enterprises lack</a:t>
            </a:r>
            <a:br/>
            <a:r>
              <a:t>predictive quality</a:t>
            </a:r>
            <a:br/>
            <a:r>
              <a:t>insights for their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 unified AI platform that predicts, prevents, and autonomously</a:t>
            </a:r>
            <a:br/>
            <a:r>
              <a:t>resolves software quality issues across the entire SDLC.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1920240" cy="2286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56032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291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Calibri"/>
              </a:defRPr>
            </a:pPr>
            <a:r>
              <a:t>Predict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490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ML-powered defect</a:t>
            </a:r>
            <a:br/>
            <a:r>
              <a:t>prediction before</a:t>
            </a:r>
            <a:br/>
            <a:r>
              <a:t>code ships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2286000"/>
            <a:ext cx="1920240" cy="2286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46120" y="256032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3291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Calibri"/>
              </a:defRPr>
            </a:pPr>
            <a:r>
              <a:t>Heal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7490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Self-healing tests</a:t>
            </a:r>
            <a:br/>
            <a:r>
              <a:t>that adapt to</a:t>
            </a:r>
            <a:br/>
            <a:r>
              <a:t>UI changes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286000"/>
            <a:ext cx="1920240" cy="2286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94960" y="256032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291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Calibri"/>
              </a:defRPr>
            </a:pPr>
            <a:r>
              <a:t>Generate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7490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LLM-based test</a:t>
            </a:r>
            <a:br/>
            <a:r>
              <a:t>creation from</a:t>
            </a:r>
            <a:br/>
            <a:r>
              <a:t>requirements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2286000"/>
            <a:ext cx="1920240" cy="2286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43800" y="256032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3291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Calibri"/>
              </a:defRPr>
            </a:pPr>
            <a: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7490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Autonomous API</a:t>
            </a:r>
            <a:br/>
            <a:r>
              <a:t>contract &amp; regression</a:t>
            </a:r>
            <a:br/>
            <a:r>
              <a:t>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3291840" cy="329184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28090"/>
                </a:solidFill>
                <a:latin typeface="Calibri"/>
              </a:defRPr>
            </a:pPr>
            <a:r>
              <a:t>TAM: $40B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Automation Testing Market</a:t>
            </a:r>
          </a:p>
        </p:txBody>
      </p:sp>
      <p:sp>
        <p:nvSpPr>
          <p:cNvPr id="7" name="Oval 6"/>
          <p:cNvSpPr/>
          <p:nvPr/>
        </p:nvSpPr>
        <p:spPr>
          <a:xfrm>
            <a:off x="1463040" y="2468880"/>
            <a:ext cx="2194560" cy="2194560"/>
          </a:xfrm>
          <a:prstGeom prst="ellipse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28090"/>
                </a:solidFill>
                <a:latin typeface="Calibri"/>
              </a:defRPr>
            </a:pPr>
            <a:r>
              <a:t>SAM: $4.6B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017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AI-Enabled Testing</a:t>
            </a:r>
          </a:p>
        </p:txBody>
      </p:sp>
      <p:sp>
        <p:nvSpPr>
          <p:cNvPr id="10" name="Oval 9"/>
          <p:cNvSpPr/>
          <p:nvPr/>
        </p:nvSpPr>
        <p:spPr>
          <a:xfrm>
            <a:off x="2011680" y="3474720"/>
            <a:ext cx="1097280" cy="10972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3657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$120M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280160"/>
            <a:ext cx="39319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3533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090"/>
                </a:solidFill>
                <a:latin typeface="Calibri"/>
              </a:defRPr>
            </a:pPr>
            <a:r>
              <a:t>18-22% CAGR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AI testing segment growth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212848"/>
            <a:ext cx="39319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22860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090"/>
                </a:solidFill>
                <a:latin typeface="Calibri"/>
              </a:defRPr>
            </a:pPr>
            <a:r>
              <a:t>80% adoption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5786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Enterprise teams using AI testing by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3145536"/>
            <a:ext cx="39319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32186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090"/>
                </a:solidFill>
                <a:latin typeface="Calibri"/>
              </a:defRPr>
            </a:pPr>
            <a:r>
              <a:t>$4.6B by 2034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51129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AI-enabled testing market projection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4078224"/>
            <a:ext cx="39319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415137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090"/>
                </a:solidFill>
                <a:latin typeface="Calibri"/>
              </a:defRPr>
            </a:pPr>
            <a:r>
              <a:t>30-45% improvement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44398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Software outcomes with AI across SDLC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MARKET GROWTH TRAJECTORY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188720"/>
          <a:ext cx="768096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PRODUCT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97280"/>
            <a:ext cx="1645920" cy="3474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325880"/>
            <a:ext cx="91440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830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AI Defect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14600"/>
            <a:ext cx="1280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ML models analyze commit history</a:t>
            </a:r>
            <a:br/>
            <a:r>
              <a:t>and code churn to identify</a:t>
            </a:r>
            <a:br/>
            <a:r>
              <a:t>high-risk modules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1097280"/>
            <a:ext cx="1645920" cy="3474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94560" y="1325880"/>
            <a:ext cx="91440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1325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IN 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7830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Self-Healing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514600"/>
            <a:ext cx="1280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Auto-recovers from UI changes</a:t>
            </a:r>
            <a:br/>
            <a:r>
              <a:t>using DOM similarity analysis</a:t>
            </a:r>
            <a:br/>
            <a:r>
              <a:t>and smart locators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1097280"/>
            <a:ext cx="1645920" cy="3474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7640" y="1325880"/>
            <a:ext cx="914400" cy="2743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40" y="1325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17830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LLM Test Generator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40" y="2514600"/>
            <a:ext cx="1280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Converts requirements to</a:t>
            </a:r>
            <a:br/>
            <a:r>
              <a:t>structured test scenarios</a:t>
            </a:r>
            <a:br/>
            <a:r>
              <a:t>using large language models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1097280"/>
            <a:ext cx="1645920" cy="3474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0" y="1325880"/>
            <a:ext cx="914400" cy="2743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1325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17830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API Contract 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2514600"/>
            <a:ext cx="1280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Detects microservice contract</a:t>
            </a:r>
            <a:br/>
            <a:r>
              <a:t>mismatches and validates</a:t>
            </a:r>
            <a:br/>
            <a:r>
              <a:t>API schema compatibility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20" y="1097280"/>
            <a:ext cx="1645920" cy="3474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43800" y="1325880"/>
            <a:ext cx="914400" cy="2743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1325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178308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Regression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2514600"/>
            <a:ext cx="1280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ML-prioritized test execution</a:t>
            </a:r>
            <a:br/>
            <a:r>
              <a:t>based on predicted software</a:t>
            </a:r>
            <a:br/>
            <a:r>
              <a:t>risk and failure 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80467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344"/>
                <a:gridCol w="1609344"/>
                <a:gridCol w="1609344"/>
                <a:gridCol w="1609344"/>
                <a:gridCol w="1609344"/>
              </a:tblGrid>
              <a:tr h="49638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Mabl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Testim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Applitools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Defect 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2809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Self-Healing Tests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2809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LLM Test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2809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API Contract Testing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2809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Regression Priority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2809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Visual AI Testing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WE WIN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3931920" cy="1463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64008" cy="1463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Unified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Five integrated AI capabilities in one system.</a:t>
            </a:r>
            <a:br/>
            <a:r>
              <a:t>Competitors offer 1-2 at most.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280160"/>
            <a:ext cx="3931920" cy="1463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0" y="1280160"/>
            <a:ext cx="64008" cy="1463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463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Domain Expertise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9202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18+ years of enterprise QA experience.</a:t>
            </a:r>
            <a:br/>
            <a:r>
              <a:t>Built by practitioners, not just researchers.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3931920" cy="1463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64008" cy="1463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00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Predictive + Reactive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576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Only platform combining predictive defect</a:t>
            </a:r>
            <a:br/>
            <a:r>
              <a:t>analysis with reactive self-healing automation.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3017520"/>
            <a:ext cx="3931920" cy="1463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3017520"/>
            <a:ext cx="64008" cy="1463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3200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Open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6576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Integrates with any CI/CD pipeline, test</a:t>
            </a:r>
            <a:br/>
            <a:r>
              <a:t>framework, and version control 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PRODUCT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468880"/>
            <a:ext cx="76809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2331720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880360"/>
            <a:ext cx="18288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8036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Defect Prediction</a:t>
            </a:r>
            <a:br/>
            <a:r>
              <a:t>Platform GA</a:t>
            </a:r>
            <a:br/>
            <a:br/>
            <a:r>
              <a:t>Self-Healing</a:t>
            </a:r>
            <a:br/>
            <a:r>
              <a:t>Framework Beta</a:t>
            </a:r>
          </a:p>
        </p:txBody>
      </p:sp>
      <p:sp>
        <p:nvSpPr>
          <p:cNvPr id="11" name="Oval 10"/>
          <p:cNvSpPr/>
          <p:nvPr/>
        </p:nvSpPr>
        <p:spPr>
          <a:xfrm>
            <a:off x="3520440" y="2331720"/>
            <a:ext cx="320040" cy="3200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1645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880360"/>
            <a:ext cx="18288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880360"/>
            <a:ext cx="1828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310896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Self-Healing GA</a:t>
            </a:r>
            <a:br/>
            <a:br/>
            <a:r>
              <a:t>LLM Test Generator</a:t>
            </a:r>
            <a:br/>
            <a:r>
              <a:t>Beta Launch</a:t>
            </a:r>
          </a:p>
        </p:txBody>
      </p:sp>
      <p:sp>
        <p:nvSpPr>
          <p:cNvPr id="17" name="Oval 16"/>
          <p:cNvSpPr/>
          <p:nvPr/>
        </p:nvSpPr>
        <p:spPr>
          <a:xfrm>
            <a:off x="5577840" y="233172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645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Q2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92040" y="2880360"/>
            <a:ext cx="18288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92040" y="2880360"/>
            <a:ext cx="18288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310896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API Contract</a:t>
            </a:r>
            <a:br/>
            <a:r>
              <a:t>Testing Launch</a:t>
            </a:r>
            <a:br/>
            <a:br/>
            <a:r>
              <a:t>Regression Engine</a:t>
            </a:r>
            <a:br/>
            <a:r>
              <a:t>Beta</a:t>
            </a:r>
          </a:p>
        </p:txBody>
      </p:sp>
      <p:sp>
        <p:nvSpPr>
          <p:cNvPr id="23" name="Oval 22"/>
          <p:cNvSpPr/>
          <p:nvPr/>
        </p:nvSpPr>
        <p:spPr>
          <a:xfrm>
            <a:off x="7635240" y="233172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1645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Q4 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2880360"/>
            <a:ext cx="18288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0" y="2880360"/>
            <a:ext cx="1828800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310896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Full Platform GA</a:t>
            </a:r>
            <a:br/>
            <a:br/>
            <a:r>
              <a:t>Enterprise</a:t>
            </a:r>
            <a:br/>
            <a:r>
              <a:t>Integrations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560320" cy="3291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$499/mo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Single module access</a:t>
            </a:r>
            <a:br/>
            <a:r>
              <a:t>Up to 10 users</a:t>
            </a:r>
            <a:br/>
            <a:r>
              <a:t>Basic integrations</a:t>
            </a:r>
            <a:br/>
            <a:r>
              <a:t>Community support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280160"/>
            <a:ext cx="2560320" cy="3291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280160"/>
            <a:ext cx="2560320" cy="54864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Professional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8CAE4"/>
                </a:solidFill>
                <a:latin typeface="Calibri"/>
              </a:defRPr>
            </a:pPr>
            <a:r>
              <a:t>$1,999/mo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5176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Three modules</a:t>
            </a:r>
            <a:br/>
            <a:r>
              <a:t>Up to 50 users</a:t>
            </a:r>
            <a:br/>
            <a:r>
              <a:t>Full CI/CD integration</a:t>
            </a:r>
            <a:br/>
            <a:r>
              <a:t>Priority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560320" cy="3291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Custom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Full platform access</a:t>
            </a:r>
            <a:br/>
            <a:r>
              <a:t>Unlimited users</a:t>
            </a:r>
            <a:br/>
            <a:r>
              <a:t>Custom integrations</a:t>
            </a:r>
            <a:br/>
            <a:r>
              <a:t>Dedicated success team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TRACTION &amp; MILESTONES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9202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9202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28090"/>
                </a:solidFill>
                <a:latin typeface="Calibri"/>
              </a:defRPr>
            </a:pPr>
            <a:r>
              <a:t>18+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28090"/>
                </a:solidFill>
                <a:latin typeface="Calibri"/>
              </a:defRPr>
            </a:pPr>
            <a:r>
              <a:t>Years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Enterprise QA</a:t>
            </a:r>
            <a:br/>
            <a:r>
              <a:t>Experience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371600"/>
            <a:ext cx="19202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51760" y="1371600"/>
            <a:ext cx="19202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554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2809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057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28090"/>
                </a:solidFill>
                <a:latin typeface="Calibri"/>
              </a:defRPr>
            </a:pPr>
            <a:r>
              <a:t>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4688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Integrated Platform</a:t>
            </a:r>
            <a:br/>
            <a:r>
              <a:t>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371600"/>
            <a:ext cx="19202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371600"/>
            <a:ext cx="19202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1554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2809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057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28090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4688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AI Defect Prediction</a:t>
            </a:r>
            <a:br/>
            <a:r>
              <a:t>Shipped on GitHub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79" y="1371600"/>
            <a:ext cx="19202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79" y="1371600"/>
            <a:ext cx="19202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39" y="1554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28090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39" y="2057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28090"/>
                </a:solidFill>
                <a:latin typeface="Calibri"/>
              </a:defRPr>
            </a:pPr>
            <a:r>
              <a:t>Papers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39" y="24688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Published Research</a:t>
            </a:r>
            <a:br/>
            <a:r>
              <a:t>in AI &amp; QA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5661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Research site live at vijayjavvadiresearch.ai with published papers, speaking</a:t>
            </a:r>
            <a:br/>
            <a:r>
              <a:t>engagements, and project documentation. Open-source defect prediction tool on GitHub.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FOUNDING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6400800" cy="3017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64008" cy="3017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0" y="1737360"/>
            <a:ext cx="1097280" cy="10972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057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Vijay Prasad Javvadi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4D8"/>
                </a:solidFill>
                <a:latin typeface="Calibri"/>
              </a:defRPr>
            </a:pPr>
            <a:r>
              <a:t>Founder &amp; Chief Researcher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65176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18+ years in enterprise software quality engineering. Independent</a:t>
            </a:r>
            <a:br/>
            <a:r>
              <a:t>researcher in AI-driven defect prediction and intelligent test</a:t>
            </a:r>
            <a:br/>
            <a:r>
              <a:t>automation. Published author with multiple peer-reviewed papers.</a:t>
            </a:r>
            <a:br/>
            <a:r>
              <a:t>Deep expertise bridging academic ML research with real-world</a:t>
            </a:r>
            <a:br/>
            <a:r>
              <a:t>enterprise QA systems.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Seed Round: $2M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393192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64008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1488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48CAE4"/>
                </a:solidFill>
                <a:latin typeface="Calibri"/>
              </a:defRPr>
            </a:pPr>
            <a:r>
              <a:t>45%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Build out remaining 4 modules and hire</a:t>
            </a:r>
            <a:br/>
            <a:r>
              <a:t>3 senior engineers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2011680"/>
            <a:ext cx="393192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0" y="2011680"/>
            <a:ext cx="64008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Calibri"/>
              </a:defRPr>
            </a:pPr>
            <a:r>
              <a:t>Go-to-Market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488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48CAE4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4688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Sales team, marketing, and first</a:t>
            </a:r>
            <a:br/>
            <a:r>
              <a:t>10 enterprise pilots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83280"/>
            <a:ext cx="393192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83280"/>
            <a:ext cx="64008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520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5204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48CAE4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404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Continued ML model development</a:t>
            </a:r>
            <a:br/>
            <a:r>
              <a:t>and published research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3383280"/>
            <a:ext cx="393192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3383280"/>
            <a:ext cx="64008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3520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Calibri"/>
              </a:defRPr>
            </a:pPr>
            <a:r>
              <a:t>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5204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48CAE4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8404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Infrastructure, legal, and</a:t>
            </a:r>
            <a:br/>
            <a:r>
              <a:t>administrative costs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MODERN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B4D8"/>
                </a:solidFill>
                <a:latin typeface="Calibri"/>
              </a:defRPr>
            </a:pPr>
            <a:r>
              <a:t>The future of software quality is intelligent, predictive, and autonomous.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jvijayprasad@gmail.com  |  vijayjavvadiresearch.ai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Thank you.</a:t>
            </a:r>
          </a:p>
        </p:txBody>
      </p:sp>
      <p:sp>
        <p:nvSpPr>
          <p:cNvPr id="7" name="Oval 6"/>
          <p:cNvSpPr/>
          <p:nvPr/>
        </p:nvSpPr>
        <p:spPr>
          <a:xfrm>
            <a:off x="4251960" y="429768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TESTING TOOLS &amp;</a:t>
            </a:r>
            <a:br/>
            <a:r>
              <a:t>LANGUAGES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0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Market landscape, adoption trends, and technology positioning</a:t>
            </a:r>
            <a:br/>
            <a:r>
              <a:t>for the Modern Automation Platform</a:t>
            </a:r>
          </a:p>
        </p:txBody>
      </p:sp>
      <p:sp>
        <p:nvSpPr>
          <p:cNvPr id="6" name="Oval 5"/>
          <p:cNvSpPr/>
          <p:nvPr/>
        </p:nvSpPr>
        <p:spPr>
          <a:xfrm>
            <a:off x="7772400" y="384048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TESTING TOOLS MARKET SHARE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50292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5760720" y="1097280"/>
            <a:ext cx="30175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60720" y="1097280"/>
            <a:ext cx="6400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89320" y="1188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Playwright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4630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3,200% growth</a:t>
            </a:r>
            <a:br/>
            <a:r>
              <a:t>in npm downloads</a:t>
            </a:r>
            <a:br/>
            <a:r>
              <a:t>since 2021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2286000"/>
            <a:ext cx="30175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720" y="2286000"/>
            <a:ext cx="64008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23774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Calibri"/>
              </a:defRPr>
            </a:pPr>
            <a:r>
              <a:t>Selenium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6517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Still in 49K+</a:t>
            </a:r>
            <a:br/>
            <a:r>
              <a:t>companies for</a:t>
            </a:r>
            <a:br/>
            <a:r>
              <a:t>legacy systems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3474720"/>
            <a:ext cx="30175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0" y="3474720"/>
            <a:ext cx="64008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35661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Cypress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840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Growth plateaued</a:t>
            </a:r>
            <a:br/>
            <a:r>
              <a:t>since 2022-2023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Sources: TestDino, Vervali Systems, npm trends (2026)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TOOL FEATURE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8412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Selenium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Playwright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Cypress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WDIO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Created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2004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B4D8"/>
                          </a:solidFill>
                          <a:latin typeface="Calibri"/>
                        </a:defRPr>
                      </a:pPr>
                      <a:r>
                        <a:t>2019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2014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2012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GitHub Stars</a:t>
                      </a:r>
                    </a:p>
                  </a:txBody>
                  <a:tcPr>
                    <a:solidFill>
                      <a:srgbClr val="1620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32K</a:t>
                      </a:r>
                    </a:p>
                  </a:txBody>
                  <a:tcPr>
                    <a:solidFill>
                      <a:srgbClr val="1620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B4D8"/>
                          </a:solidFill>
                          <a:latin typeface="Calibri"/>
                        </a:defRPr>
                      </a:pPr>
                      <a:r>
                        <a:t>78.6K</a:t>
                      </a:r>
                    </a:p>
                  </a:txBody>
                  <a:tcPr>
                    <a:solidFill>
                      <a:srgbClr val="1620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49.3K</a:t>
                      </a:r>
                    </a:p>
                  </a:txBody>
                  <a:tcPr>
                    <a:solidFill>
                      <a:srgbClr val="1620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9.2K</a:t>
                      </a:r>
                    </a:p>
                  </a:txBody>
                  <a:tcPr>
                    <a:solidFill>
                      <a:srgbClr val="16204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Languages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6+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B4D8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JS only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JS/TS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Cross-Browser</a:t>
                      </a:r>
                    </a:p>
                  </a:txBody>
                  <a:tcPr>
                    <a:solidFill>
                      <a:srgbClr val="1620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All</a:t>
                      </a:r>
                    </a:p>
                  </a:txBody>
                  <a:tcPr>
                    <a:solidFill>
                      <a:srgbClr val="1620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B4D8"/>
                          </a:solidFill>
                          <a:latin typeface="Calibri"/>
                        </a:defRPr>
                      </a:pPr>
                      <a:r>
                        <a:t>All</a:t>
                      </a:r>
                    </a:p>
                  </a:txBody>
                  <a:tcPr>
                    <a:solidFill>
                      <a:srgbClr val="1620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1620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All</a:t>
                      </a:r>
                    </a:p>
                  </a:txBody>
                  <a:tcPr>
                    <a:solidFill>
                      <a:srgbClr val="16204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Slow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B4D8"/>
                          </a:solidFill>
                          <a:latin typeface="Calibri"/>
                        </a:defRPr>
                      </a:pPr>
                      <a:r>
                        <a:t>Fast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Fast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Mobile Support</a:t>
                      </a:r>
                    </a:p>
                  </a:txBody>
                  <a:tcPr>
                    <a:solidFill>
                      <a:srgbClr val="1620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Appium</a:t>
                      </a:r>
                    </a:p>
                  </a:txBody>
                  <a:tcPr>
                    <a:solidFill>
                      <a:srgbClr val="1620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B4D8"/>
                          </a:solidFill>
                          <a:latin typeface="Calibri"/>
                        </a:defRPr>
                      </a:pPr>
                      <a:r>
                        <a:t>Native</a:t>
                      </a:r>
                    </a:p>
                  </a:txBody>
                  <a:tcPr>
                    <a:solidFill>
                      <a:srgbClr val="1620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620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Appium</a:t>
                      </a:r>
                    </a:p>
                  </a:txBody>
                  <a:tcPr>
                    <a:solidFill>
                      <a:srgbClr val="16204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Auto-Wait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B4D8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Parallel Tests</a:t>
                      </a:r>
                    </a:p>
                  </a:txBody>
                  <a:tcPr>
                    <a:solidFill>
                      <a:srgbClr val="1620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Grid</a:t>
                      </a:r>
                    </a:p>
                  </a:txBody>
                  <a:tcPr>
                    <a:solidFill>
                      <a:srgbClr val="1620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B4D8"/>
                          </a:solidFill>
                          <a:latin typeface="Calibri"/>
                        </a:defRPr>
                      </a:pPr>
                      <a:r>
                        <a:t>Native</a:t>
                      </a:r>
                    </a:p>
                  </a:txBody>
                  <a:tcPr>
                    <a:solidFill>
                      <a:srgbClr val="1620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1620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Native</a:t>
                      </a:r>
                    </a:p>
                  </a:txBody>
                  <a:tcPr>
                    <a:solidFill>
                      <a:srgbClr val="16204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AI Features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B4D8"/>
                          </a:solidFill>
                          <a:latin typeface="Calibri"/>
                        </a:defRPr>
                      </a:pPr>
                      <a:r>
                        <a:t>MCP+AI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cy.prompt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TOOL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411480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41148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28090"/>
                </a:solidFill>
                <a:latin typeface="Calibri"/>
              </a:defRPr>
            </a:pPr>
            <a:r>
              <a:t>Selenium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143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28090"/>
                </a:solidFill>
                <a:latin typeface="Calibri"/>
              </a:defRPr>
            </a:pPr>
            <a:r>
              <a:t>22.1%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The veteran. 20+ years, 49K+ companies.</a:t>
            </a:r>
            <a:br/>
            <a:r>
              <a:t>Multi-language (Java, Python, C#, Ruby, JS).</a:t>
            </a:r>
            <a:br/>
            <a:r>
              <a:t>Enterprise standard for banking &amp; insurance.</a:t>
            </a:r>
            <a:br/>
            <a:r>
              <a:t>Declining from 65% to 22% adoption.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005840"/>
            <a:ext cx="411480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0" y="1005840"/>
            <a:ext cx="4114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Playwright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143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B4D8"/>
                </a:solidFill>
                <a:latin typeface="Calibri"/>
              </a:defRPr>
            </a:pPr>
            <a:r>
              <a:t>45.1%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50876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The disruptor. Microsoft-backed, fastest growing.</a:t>
            </a:r>
            <a:br/>
            <a:r>
              <a:t>42% faster than Selenium. AI-native with MCP.</a:t>
            </a:r>
            <a:br/>
            <a:r>
              <a:t>Auto-wait, tracing, native mobile support.</a:t>
            </a:r>
            <a:br/>
            <a:r>
              <a:t>Now #1 adopted framework globally.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71800"/>
            <a:ext cx="411480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41148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108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Cypress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108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59E0B"/>
                </a:solidFill>
                <a:latin typeface="Calibri"/>
              </a:defRPr>
            </a:pPr>
            <a:r>
              <a:t>14.4%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47472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The developer favorite. Best DX &amp; debugging.</a:t>
            </a:r>
            <a:br/>
            <a:r>
              <a:t>JS/TS only. Single-tab limitation.</a:t>
            </a:r>
            <a:br/>
            <a:r>
              <a:t>Growth plateaued since 2022.</a:t>
            </a:r>
            <a:br/>
            <a:r>
              <a:t>cy.prompt() adding AI test writing.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2971800"/>
            <a:ext cx="411480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46320" y="2971800"/>
            <a:ext cx="411480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3108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4A3B8"/>
                </a:solidFill>
                <a:latin typeface="Calibri"/>
              </a:defRPr>
            </a:pPr>
            <a:r>
              <a:t>WebDriverIO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108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94A3B8"/>
                </a:solidFill>
                <a:latin typeface="Calibri"/>
              </a:defRPr>
            </a:pPr>
            <a:r>
              <a:t>0.5%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47472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The JS bridge. Selenium protocol in Node.js.</a:t>
            </a:r>
            <a:br/>
            <a:r>
              <a:t>1.6K companies. Low learning curve.</a:t>
            </a:r>
            <a:br/>
            <a:r>
              <a:t>Good plugin ecosystem.</a:t>
            </a:r>
            <a:br/>
            <a:r>
              <a:t>Niche despite strong capabilities.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LANGUAGES IN TEST AUTOMATION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097280"/>
          <a:ext cx="4114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4754880" y="1005840"/>
            <a:ext cx="4114800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005840"/>
            <a:ext cx="64008" cy="868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83480" y="10789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JS/TypeScript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0789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Calibri"/>
              </a:defRPr>
            </a:pPr>
            <a:r>
              <a:t>63% and growing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3533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Dominant due to shift-left testing</a:t>
            </a:r>
            <a:br/>
            <a:r>
              <a:t>and Playwright/Cypress adoption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011680"/>
            <a:ext cx="4114800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2011680"/>
            <a:ext cx="64008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20848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0848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Calibri"/>
              </a:defRPr>
            </a:pPr>
            <a:r>
              <a:t>25-30% adoption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35915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Rising for AI/ML test integration</a:t>
            </a:r>
            <a:br/>
            <a:r>
              <a:t>and data-driven testing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017520"/>
            <a:ext cx="4114800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3017520"/>
            <a:ext cx="64008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30906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Java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0906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Calibri"/>
              </a:defRPr>
            </a:pPr>
            <a:r>
              <a:t>20% and declining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3649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Enterprise legacy. Still 10M+ devs.</a:t>
            </a:r>
            <a:br/>
            <a:r>
              <a:t>TestNG/JUnit ecosystem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0" y="4023360"/>
            <a:ext cx="64008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4096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C#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0965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BD5E1"/>
                </a:solidFill>
                <a:latin typeface="Calibri"/>
              </a:defRPr>
            </a:pPr>
            <a:r>
              <a:t>10% and growing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37083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Growing in .NET enterprise shops</a:t>
            </a:r>
            <a:br/>
            <a:r>
              <a:t>Playwright .NET support helping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LANGUAGE-TOOL COMPATIBILITY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80160"/>
                <a:gridCol w="1280160"/>
                <a:gridCol w="12801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Selenium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Playwright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Cypress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WDIO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Appium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JavaScript/TS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Java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C#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Ruby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PHP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3840480"/>
            <a:ext cx="6400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28090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Selenium and Playwright lead in multi-language support. Our platform's open architecture supports all major</a:t>
            </a:r>
            <a:br/>
            <a:r>
              <a:t>languages, giving us an advantage over Cypress and WebDriverIO which are locked to JavaScript.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ADOPTION TRENDS 2021-2026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54864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6217920" y="1097280"/>
            <a:ext cx="265176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097280"/>
            <a:ext cx="54864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188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Playwright surpasses</a:t>
            </a:r>
            <a:br/>
            <a:r>
              <a:t>Selenium in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First time a newer tool</a:t>
            </a:r>
            <a:br/>
            <a:r>
              <a:t>leads overall adoption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286000"/>
            <a:ext cx="265176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286000"/>
            <a:ext cx="54864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Selenium still critical</a:t>
            </a:r>
            <a:br/>
            <a:r>
              <a:t>for enterprise legacy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788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49K+ companies retain</a:t>
            </a:r>
            <a:br/>
            <a:r>
              <a:t>it for banking &amp; insurance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474720"/>
            <a:ext cx="265176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474720"/>
            <a:ext cx="54864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566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libri"/>
              </a:defRPr>
            </a:pPr>
            <a:r>
              <a:t>Cypress growth stalled</a:t>
            </a:r>
            <a:br/>
            <a:r>
              <a:t>after 2022 peak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77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JS-only limitation and</a:t>
            </a:r>
            <a:br/>
            <a:r>
              <a:t>single-tab constraint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ENTERPRISE vs STARTUP PREFERENCES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93192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Selenium dominant (banking, insurance)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828800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762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Java + TestNG/JUnit ecosystem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267712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1518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31K+ companies still on Selenium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2706624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5409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Selenium Grid for parallel execution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3145536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930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Multi-language team requirements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3584448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Migrating new projects to Playwright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4023360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1097280"/>
            <a:ext cx="393192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1143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STARTUPS &amp; SCALE-UPS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Playwright winning for new projects</a:t>
            </a:r>
          </a:p>
        </p:txBody>
      </p:sp>
      <p:sp>
        <p:nvSpPr>
          <p:cNvPr id="23" name="Oval 22"/>
          <p:cNvSpPr/>
          <p:nvPr/>
        </p:nvSpPr>
        <p:spPr>
          <a:xfrm>
            <a:off x="4892040" y="1828800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21762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Cloud-native (Vercel, AWS, Heroku)</a:t>
            </a:r>
          </a:p>
        </p:txBody>
      </p:sp>
      <p:sp>
        <p:nvSpPr>
          <p:cNvPr id="25" name="Oval 24"/>
          <p:cNvSpPr/>
          <p:nvPr/>
        </p:nvSpPr>
        <p:spPr>
          <a:xfrm>
            <a:off x="4892040" y="2267712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261518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No infrastructure overhead needed</a:t>
            </a:r>
          </a:p>
        </p:txBody>
      </p:sp>
      <p:sp>
        <p:nvSpPr>
          <p:cNvPr id="27" name="Oval 26"/>
          <p:cNvSpPr/>
          <p:nvPr/>
        </p:nvSpPr>
        <p:spPr>
          <a:xfrm>
            <a:off x="4892040" y="2706624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305409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JS/TypeScript primary language</a:t>
            </a:r>
          </a:p>
        </p:txBody>
      </p:sp>
      <p:sp>
        <p:nvSpPr>
          <p:cNvPr id="29" name="Oval 28"/>
          <p:cNvSpPr/>
          <p:nvPr/>
        </p:nvSpPr>
        <p:spPr>
          <a:xfrm>
            <a:off x="4892040" y="3145536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34930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Speed &gt; cross-browser coverage</a:t>
            </a:r>
          </a:p>
        </p:txBody>
      </p:sp>
      <p:sp>
        <p:nvSpPr>
          <p:cNvPr id="31" name="Oval 30"/>
          <p:cNvSpPr/>
          <p:nvPr/>
        </p:nvSpPr>
        <p:spPr>
          <a:xfrm>
            <a:off x="4892040" y="3584448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AI-first testing approaches</a:t>
            </a:r>
          </a:p>
        </p:txBody>
      </p:sp>
      <p:sp>
        <p:nvSpPr>
          <p:cNvPr id="33" name="Oval 32"/>
          <p:cNvSpPr/>
          <p:nvPr/>
        </p:nvSpPr>
        <p:spPr>
          <a:xfrm>
            <a:off x="4892040" y="4023360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AI INTEGRATION IN TESTING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4160520" cy="1737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41605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0" y="1143000"/>
            <a:ext cx="109728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1430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155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Calibri"/>
              </a:defRPr>
            </a:pPr>
            <a:r>
              <a:t>Playwright +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MCP (Model Context Protocol) integration</a:t>
            </a:r>
            <a:br/>
            <a:r>
              <a:t>Built-in AI agents: Planner, Generator, Healer</a:t>
            </a:r>
            <a:br/>
            <a:r>
              <a:t>Accessibility-tree-first execution</a:t>
            </a:r>
            <a:br/>
            <a:r>
              <a:t>Self-healing failures automatically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1005840"/>
            <a:ext cx="4160520" cy="1737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00600" y="1005840"/>
            <a:ext cx="41605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1143000"/>
            <a:ext cx="109728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1430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EMERGING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1155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Cypress +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50876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cy.prompt() experimental (CypressConf 2025)</a:t>
            </a:r>
            <a:br/>
            <a:r>
              <a:t>Natural language test writing</a:t>
            </a:r>
            <a:br/>
            <a:r>
              <a:t>Auto-selector adjustment on markup changes</a:t>
            </a:r>
            <a:br/>
            <a:r>
              <a:t>70% maintenance reduction with self-healing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4160520" cy="1737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926080"/>
            <a:ext cx="416052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0" y="3063240"/>
            <a:ext cx="1097280" cy="2560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30632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LAGGING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0358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4A3B8"/>
                </a:solidFill>
                <a:latin typeface="Calibri"/>
              </a:defRPr>
            </a:pPr>
            <a:r>
              <a:t>Selenium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4290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No native AI features</a:t>
            </a:r>
            <a:br/>
            <a:r>
              <a:t>Relies on 3rd-party tools (Healenium)</a:t>
            </a:r>
            <a:br/>
            <a:r>
              <a:t>Manual locator maintenance</a:t>
            </a:r>
            <a:br/>
            <a:r>
              <a:t>Largest gap in modernization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2926080"/>
            <a:ext cx="4160520" cy="1737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00600" y="2926080"/>
            <a:ext cx="41605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3063240"/>
            <a:ext cx="109728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30632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AHEAD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0358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Our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4290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AI-native from ground up</a:t>
            </a:r>
            <a:br/>
            <a:r>
              <a:t>Defect prediction + self-healing combined</a:t>
            </a:r>
            <a:br/>
            <a:r>
              <a:t>LLM test generation from requirements</a:t>
            </a:r>
            <a:br/>
            <a:r>
              <a:t>Works across ALL tools and frameworks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Calibri"/>
              </a:defRPr>
            </a:pPr>
            <a:r>
              <a:t>OUR STRATEGIC POSITIONING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1097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6400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33272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090"/>
                </a:solidFill>
                <a:latin typeface="Calibri"/>
              </a:defRPr>
            </a:pPr>
            <a:r>
              <a:t>Tool-Agnostic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While others bet on one framework, our platform integrates with</a:t>
            </a:r>
            <a:br/>
            <a:r>
              <a:t>Selenium, Playwright, Cypress, and WebDriverIO — meeting</a:t>
            </a:r>
            <a:br/>
            <a:r>
              <a:t>enterprises where they are, not forcing migration.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82296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6400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76272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090"/>
                </a:solidFill>
                <a:latin typeface="Calibri"/>
              </a:defRPr>
            </a:pPr>
            <a:r>
              <a:t>Language-Inclusive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Support for Java, Python, JavaScript/TypeScript, and C# means</a:t>
            </a:r>
            <a:br/>
            <a:r>
              <a:t>we serve 93%+ of the automation engineering market regardless</a:t>
            </a:r>
            <a:br/>
            <a:r>
              <a:t>of their existing technology stack.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46120"/>
            <a:ext cx="82296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246120"/>
            <a:ext cx="6400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19272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090"/>
                </a:solidFill>
                <a:latin typeface="Calibri"/>
              </a:defRPr>
            </a:pPr>
            <a:r>
              <a:t>AI-Native Advantage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118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Most tools are retrofitting AI. We're building AI-first — combining</a:t>
            </a:r>
            <a:br/>
            <a:r>
              <a:t>defect prediction, self-healing, and LLM generation into a unified</a:t>
            </a:r>
            <a:br/>
            <a:r>
              <a:t>intelligence layer that works across all tools.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9884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$51B test automation market by 2031  |  17% CAGR  |  AI-first platforms will capture the premium tier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